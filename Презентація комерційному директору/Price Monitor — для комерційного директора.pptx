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ec6bc8c7d542c7" /><Relationship Type="http://schemas.openxmlformats.org/officeDocument/2006/relationships/extended-properties" Target="/docProps/app.xml" Id="Re37133dc27394454" /><Relationship Type="http://schemas.openxmlformats.org/officeDocument/2006/relationships/officeDocument" Target="/ppt/presentation.xml" Id="Rc238e6ebc14645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ed8d9d27194408"/>
  </p:sldMasterIdLst>
  <p:notesMasterIdLst>
    <p:notesMasterId xmlns:r="http://schemas.openxmlformats.org/officeDocument/2006/relationships" r:id="Re6c4775d4f624735"/>
  </p:notesMasterIdLst>
  <p:sldIdLst>
    <p:sldId xmlns:r="http://schemas.openxmlformats.org/officeDocument/2006/relationships" id="256" r:id="Rb34a0b2b3f3b406f"/>
    <p:sldId xmlns:r="http://schemas.openxmlformats.org/officeDocument/2006/relationships" id="257" r:id="Re8675c5842e347d9"/>
    <p:sldId xmlns:r="http://schemas.openxmlformats.org/officeDocument/2006/relationships" id="258" r:id="R1f509e3d5c484b0e"/>
    <p:sldId xmlns:r="http://schemas.openxmlformats.org/officeDocument/2006/relationships" id="259" r:id="R523a81190a164741"/>
    <p:sldId xmlns:r="http://schemas.openxmlformats.org/officeDocument/2006/relationships" id="260" r:id="Re9f61aef9ff04076"/>
    <p:sldId xmlns:r="http://schemas.openxmlformats.org/officeDocument/2006/relationships" id="261" r:id="R509df19d59ab4218"/>
    <p:sldId xmlns:r="http://schemas.openxmlformats.org/officeDocument/2006/relationships" id="262" r:id="Rb45ad53c2ea441d5"/>
    <p:sldId xmlns:r="http://schemas.openxmlformats.org/officeDocument/2006/relationships" id="263" r:id="Rdbfd756988324b98"/>
    <p:sldId xmlns:r="http://schemas.openxmlformats.org/officeDocument/2006/relationships" id="264" r:id="Ra86ff967b6c74f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206d8d92074590" /><Relationship Type="http://schemas.openxmlformats.org/officeDocument/2006/relationships/slideMaster" Target="/ppt/slideMasters/slideMaster1.xml" Id="R11ed8d9d27194408" /><Relationship Type="http://schemas.openxmlformats.org/officeDocument/2006/relationships/notesMaster" Target="/ppt/notesMasters/notesMaster1.xml" Id="Re6c4775d4f624735" /><Relationship Type="http://schemas.openxmlformats.org/officeDocument/2006/relationships/presProps" Target="/ppt/presProps.xml" Id="Rc7d350b24df247db" /><Relationship Type="http://schemas.openxmlformats.org/officeDocument/2006/relationships/tableStyles" Target="/ppt/tableStyles.xml" Id="Rb3cdb4a7b8ac42f4" /><Relationship Type="http://schemas.openxmlformats.org/officeDocument/2006/relationships/slide" Target="/ppt/slides/slide1.xml" Id="Rb34a0b2b3f3b406f" /><Relationship Type="http://schemas.openxmlformats.org/officeDocument/2006/relationships/slide" Target="/ppt/slides/slide2.xml" Id="Re8675c5842e347d9" /><Relationship Type="http://schemas.openxmlformats.org/officeDocument/2006/relationships/slide" Target="/ppt/slides/slide3.xml" Id="R1f509e3d5c484b0e" /><Relationship Type="http://schemas.openxmlformats.org/officeDocument/2006/relationships/slide" Target="/ppt/slides/slide4.xml" Id="R523a81190a164741" /><Relationship Type="http://schemas.openxmlformats.org/officeDocument/2006/relationships/slide" Target="/ppt/slides/slide5.xml" Id="Re9f61aef9ff04076" /><Relationship Type="http://schemas.openxmlformats.org/officeDocument/2006/relationships/slide" Target="/ppt/slides/slide6.xml" Id="R509df19d59ab4218" /><Relationship Type="http://schemas.openxmlformats.org/officeDocument/2006/relationships/slide" Target="/ppt/slides/slide7.xml" Id="Rb45ad53c2ea441d5" /><Relationship Type="http://schemas.openxmlformats.org/officeDocument/2006/relationships/slide" Target="/ppt/slides/slide8.xml" Id="Rdbfd756988324b98" /><Relationship Type="http://schemas.openxmlformats.org/officeDocument/2006/relationships/slide" Target="/ppt/slides/slide9.xml" Id="Ra86ff967b6c74f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256ab654814a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fa54f8aa714448" /><Relationship Type="http://schemas.openxmlformats.org/officeDocument/2006/relationships/notesMaster" Target="/ppt/notesMasters/notesMaster1.xml" Id="Ra5057462b71542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a2f2f5a05547e5" /><Relationship Type="http://schemas.openxmlformats.org/officeDocument/2006/relationships/notesMaster" Target="/ppt/notesMasters/notesMaster1.xml" Id="R4d8a8a9049c242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cd96e948e0489f" /><Relationship Type="http://schemas.openxmlformats.org/officeDocument/2006/relationships/notesMaster" Target="/ppt/notesMasters/notesMaster1.xml" Id="R2baf6d60403448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1e4e88f2fa4908" /><Relationship Type="http://schemas.openxmlformats.org/officeDocument/2006/relationships/notesMaster" Target="/ppt/notesMasters/notesMaster1.xml" Id="R4a5e3b6c06cc44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24228f68ce40af" /><Relationship Type="http://schemas.openxmlformats.org/officeDocument/2006/relationships/notesMaster" Target="/ppt/notesMasters/notesMaster1.xml" Id="Rde1ef52c980b4c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5298b9aec64068" /><Relationship Type="http://schemas.openxmlformats.org/officeDocument/2006/relationships/notesMaster" Target="/ppt/notesMasters/notesMaster1.xml" Id="Rce75170245c14b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3ecc271d5d48c8" /><Relationship Type="http://schemas.openxmlformats.org/officeDocument/2006/relationships/notesMaster" Target="/ppt/notesMasters/notesMaster1.xml" Id="Ra32b78d3bff044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257d2313a04359" /><Relationship Type="http://schemas.openxmlformats.org/officeDocument/2006/relationships/notesMaster" Target="/ppt/notesMasters/notesMaster1.xml" Id="Rfb467256d35e41f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faabc8987b24242" /><Relationship Type="http://schemas.openxmlformats.org/officeDocument/2006/relationships/notesMaster" Target="/ppt/notesMasters/notesMaster1.xml" Id="R71ba2837dd5243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Почніть з короткої тези: це не концепт і не макет — далі буде показана робоча програма.</a:t>
            </a:r>
          </a:p>
          <a:p xmlns:a="http://schemas.openxmlformats.org/drawingml/2006/main">
            <a:r>
              <a:t>Не переходьте до вартості на першому слайді. Мета розмови — погодити вимірюваний пілот.</a:t>
            </a:r>
          </a:p>
          <a:p xmlns:a="http://schemas.openxmlformats.org/drawingml/2006/main">
            <a:r>
              <a:t>Джерело функціональності: D:\parser\Функціонал Price Monitor.html, версія 4.17.0.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критикуйте чинний процес або людей. Підкресліть: ручний спосіб працює, але погано масштабується.</a:t>
            </a:r>
          </a:p>
          <a:p xmlns:a="http://schemas.openxmlformats.org/drawingml/2006/main">
            <a:r>
              <a:t>Ключова думка: на великому асортименті перша й остання позиції перевіряються в різний час.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Цифри 3 дні та 10 потенційних користувачів — попередня внутрішня оцінка, озвучена користувачем програми.</a:t>
            </a:r>
          </a:p>
          <a:p xmlns:a="http://schemas.openxmlformats.org/drawingml/2006/main">
            <a:r>
              <a:t>Скажіть прямо: ми не підміняємо вимірювання обіцянкою. Саме тому пропонуємо пілот.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Рекомендований сценарій демонстрації: спочатку відкрити готовий архівний результат — він не залежить від швидкості сайту. Потім, якщо інтернет стабільний, запустити короткий живий запит.</a:t>
            </a:r>
          </a:p>
          <a:p xmlns:a="http://schemas.openxmlformats.org/drawingml/2006/main">
            <a:r>
              <a:t>Покажіть перемикання магазинів, EVA за замовчуванням, запит із двох марок та кнопку Excel.</a:t>
            </a:r>
          </a:p>
          <a:p xmlns:a="http://schemas.openxmlformats.org/drawingml/2006/main">
            <a:r>
              <a:t>Джерело: реальний інтерфейс Price Monitor. Скріншот зроблено з робочої збірки; актуальна функціональність підтверджена документацією 4.17.0.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Зробіть акцент на двох речах: дані одразу структуровані для Excel, а додаткові поля не змішуються між різними варіантами або продавцями.</a:t>
            </a:r>
          </a:p>
          <a:p xmlns:a="http://schemas.openxmlformats.org/drawingml/2006/main">
            <a:r>
              <a:t>Скріншот містить тестові назви товарів; він демонструє реальні поля й інтерфейс.</a:t>
            </a:r>
          </a:p>
          <a:p xmlns:a="http://schemas.openxmlformats.org/drawingml/2006/main">
            <a:r>
              <a:t>Джерела: D:\parser\Функціонал Price Monitor.html та D:\parser\ROADMAP.md.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треба читати таблицю по рядках. Скажіть: ядро спільне, але програма чесно враховує відмінності майданчиків.</a:t>
            </a:r>
          </a:p>
          <a:p xmlns:a="http://schemas.openxmlformats.org/drawingml/2006/main">
            <a:r>
              <a:t>Якщо запитають про штрихкоди EVA або інших магазинів: у поточній версії не вигадуємо EAN там, де сайт його надійно не віддає.</a:t>
            </a:r>
          </a:p>
          <a:p xmlns:a="http://schemas.openxmlformats.org/drawingml/2006/main">
            <a:r>
              <a:t>Джерело: D:\parser\Функціонал Price Monitor.html, розділ «Можливості за магазинами», стан на 28.09.2026.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Цінність для керівника: не тільки отримати Excel сьогодні, а бачити, що змінилося між перевірками.</a:t>
            </a:r>
          </a:p>
          <a:p xmlns:a="http://schemas.openxmlformats.org/drawingml/2006/main">
            <a:r>
              <a:t>Поясніть обмеження чесно: «зник із видачі» не дорівнює доведеному нульовому залишку; це сигнал для перевірки.</a:t>
            </a:r>
          </a:p>
          <a:p xmlns:a="http://schemas.openxmlformats.org/drawingml/2006/main">
            <a:r>
              <a:t>Джерела: D:\parser\Що нового 4.17.0.txt та D:\parser\Функціонал Price Monitor.html.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Запропонуйте пілот, а не масове встановлення. Це знижує ризик і дає директору цифри для рішення.</a:t>
            </a:r>
          </a:p>
          <a:p xmlns:a="http://schemas.openxmlformats.org/drawingml/2006/main">
            <a:r>
              <a:t>Тривалість 2–4 тижні та 2–3 користувачі — пропозиція для обговорення, а не вже погоджені умови.</a:t>
            </a:r>
          </a:p>
          <a:p xmlns:a="http://schemas.openxmlformats.org/drawingml/2006/main">
            <a:r>
              <a:t>До старту пілоту бажано визначити відповідального зі сторони бізнесу та контакт IT/безпеки.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Завершіть конкретним питанням: «Чи можемо ми погодити невеликий пілот і хто має бути його бізнес-власником?»</a:t>
            </a:r>
          </a:p>
          <a:p xmlns:a="http://schemas.openxmlformats.org/drawingml/2006/main">
            <a:r>
              <a:t>Якщо директор зацікавлений — тільки після цього переходьте до масштабу, підтримки та комерційних умов.</a:t>
            </a:r>
          </a:p>
          <a:p xmlns:a="http://schemas.openxmlformats.org/drawingml/2006/main">
            <a:r>
              <a:t>Не обіцяйте масове корпоративне впровадження без окремого узгодження з IT та перевірки безпеки.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fe9998d14144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525596a0b24634" /><Relationship Type="http://schemas.openxmlformats.org/officeDocument/2006/relationships/slideLayout" Target="/ppt/slideLayouts/slideLayout1.xml" Id="R1f297d0d270544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297d0d270544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e8498cb1b49d4" /><Relationship Type="http://schemas.openxmlformats.org/officeDocument/2006/relationships/notesSlide" Target="/ppt/notesSlides/notesSlide1.xml" Id="R75d3053f4a6f43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31f144e334c4d" /><Relationship Type="http://schemas.openxmlformats.org/officeDocument/2006/relationships/notesSlide" Target="/ppt/notesSlides/notesSlide2.xml" Id="R7d362dc045a040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c222d03b84795" /><Relationship Type="http://schemas.openxmlformats.org/officeDocument/2006/relationships/notesSlide" Target="/ppt/notesSlides/notesSlide3.xml" Id="Rabbe7941fc1344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7b1ddf6ddb42df" /><Relationship Type="http://schemas.openxmlformats.org/officeDocument/2006/relationships/image" Target="/ppt/media/image.png" Id="R3614a8685a634a9d" /><Relationship Type="http://schemas.openxmlformats.org/officeDocument/2006/relationships/notesSlide" Target="/ppt/notesSlides/notesSlide4.xml" Id="Rd1e8cb4a5d5a41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73b279792449f8" /><Relationship Type="http://schemas.openxmlformats.org/officeDocument/2006/relationships/image" Target="/ppt/media/image2.png" Id="R40bad750f1c54ce7" /><Relationship Type="http://schemas.openxmlformats.org/officeDocument/2006/relationships/notesSlide" Target="/ppt/notesSlides/notesSlide5.xml" Id="Rcd172ee244eb41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981b814a664288" /><Relationship Type="http://schemas.openxmlformats.org/officeDocument/2006/relationships/notesSlide" Target="/ppt/notesSlides/notesSlide6.xml" Id="R21a9bd5832ae4e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14a080622644ea" /><Relationship Type="http://schemas.openxmlformats.org/officeDocument/2006/relationships/image" Target="/ppt/media/image3.png" Id="R9455b1bb38864e00" /><Relationship Type="http://schemas.openxmlformats.org/officeDocument/2006/relationships/notesSlide" Target="/ppt/notesSlides/notesSlide7.xml" Id="R4413adafdf994a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5783ee292944ed" /><Relationship Type="http://schemas.openxmlformats.org/officeDocument/2006/relationships/notesSlide" Target="/ppt/notesSlides/notesSlide8.xml" Id="Rc6e1089b50404ea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8905236544e86" /><Relationship Type="http://schemas.openxmlformats.org/officeDocument/2006/relationships/notesSlide" Target="/ppt/notesSlides/notesSlide9.xml" Id="Rfb5f28b4e59249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2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9EF16A-BAD9-4EDF-B0CA-F0A391B7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62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F241F5-1714-4B94-A4C6-8B358C47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9C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9C6D"/>
                </a:solidFill>
                <a:latin typeface="Arial"/>
                <a:ea typeface="Arial"/>
                <a:cs typeface="Arial"/>
              </a:rPr>
              <a:t>PRICE MONITOR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5B9B61-D369-482F-BBEF-5D622A67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8667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Автоматизація моніторингу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роздрібних цін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5AC1E4-6ACC-4D35-A19D-673E1B2B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0">
                <a:solidFill>
                  <a:srgbClr val="CCD7E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CD7E4"/>
                </a:solidFill>
                <a:latin typeface="Arial"/>
                <a:ea typeface="Arial"/>
                <a:cs typeface="Arial"/>
              </a:rPr>
              <a:t>Робочий інструмент для категорійного менеджменту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5A8CE-BDDD-48D7-B20F-5EC902D8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2381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622A"/>
          </a:solidFill>
          <a:ln xmlns:a="http://schemas.openxmlformats.org/drawingml/2006/main" w="9525">
            <a:solidFill>
              <a:srgbClr val="F4622A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РОБОЧА ВЕРСІЯ 4.17.0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96BE2E-640F-4AAA-AA9D-BF8460E5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AFC0D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FC0D2"/>
                </a:solidFill>
                <a:latin typeface="Arial"/>
                <a:ea typeface="Arial"/>
                <a:cs typeface="Arial"/>
              </a:rPr>
              <a:t>Демонстрація та пропозиція пілоту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99A1EA-4D8A-493A-B714-FAF9F708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8296A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8296AB"/>
                </a:solidFill>
                <a:latin typeface="Arial"/>
                <a:ea typeface="Arial"/>
                <a:cs typeface="Arial"/>
              </a:rPr>
              <a:t>Жовтень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F0C3CA-D88D-4675-B6F7-E2B89B8E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800100"/>
            <a:ext cx="1219200" cy="47625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8334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BBC706-7411-43F6-B2E2-FCFDCF87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809750"/>
            <a:ext cx="1219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5550" b="1">
                <a:solidFill>
                  <a:srgbClr val="F4622A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F4622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BA66BC-3E25-46BC-80FB-24C30B0B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724150"/>
            <a:ext cx="933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магазинів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 одній програмі</a:t>
            </a:r>
          </a:p>
        </p:txBody>
      </p:sp>
    </p:spTree>
    <p:extLst>
      <p:ext uri="{BB962C8B-B14F-4D97-AF65-F5344CB8AC3E}">
        <p14:creationId xmlns:p14="http://schemas.microsoft.com/office/powerpoint/2010/main" val="13326345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AABB4A-2F2C-4437-9C50-273F0410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75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Зараз моніторинг — це ручна операція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B41301-AAA7-41C0-8815-4D7D6964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525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Кожен повторюваний крок забирає час і створює різницю між моментами перевірки.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5FA2F8-165E-4588-90E9-8D974AD5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5143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622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6C3FEA-846C-4F0F-9B5A-189C71C7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23812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A63B2-A2BD-4103-BDD4-5A15ACD8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F462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4622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FBCEA7-2075-4B41-BD6D-B89A98A0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1924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Відкрити сайт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13E2F9-2316-4C28-9790-024DF22B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знайти потрібну марку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BF4232-84F6-45E5-BC17-8668E291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09875"/>
            <a:ext cx="3048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C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B756B6-1007-44F7-A4E6-A5DC31F0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00250"/>
            <a:ext cx="23812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397C5E-0FBA-45CC-9926-00043672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098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F462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4622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786B4F-6D3E-445C-8AB7-7073D406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09875"/>
            <a:ext cx="1924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2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Перевірити позиції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C79369-ECD5-4228-9D2D-AD935239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3375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ціна, знижка, наявність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E5A4F9-53DD-4285-AC42-1751B4C3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809875"/>
            <a:ext cx="3048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C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B874F3-7681-4C5B-BB25-D1BD264F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00250"/>
            <a:ext cx="23812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60D986-8886-4EB4-9553-1AC980D2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098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F462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4622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0FB6F2-3AD3-4DEA-B070-74639748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09875"/>
            <a:ext cx="1924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1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Перенести в Excel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AA4AA6-381F-46F9-8F9A-A0E053AA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3375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без помилок і пропусків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7D1BA2-CA18-4C64-B706-CE7E8872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09875"/>
            <a:ext cx="3048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5C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6884F7-DD1A-4A34-9EEC-F5696F26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23812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71130E-5216-49E8-A04F-86EE5402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098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F462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4622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28CD83-9F94-44A4-A5A6-CE462553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09875"/>
            <a:ext cx="1924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Повторити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935FD1-6E88-4DCD-A29D-DE13AF1E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3375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для інших магазинів і дат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94DDC6-64DA-4609-956E-89971E1A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91050"/>
            <a:ext cx="108966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FFC7A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F9A52C-7B09-4D2F-A1BE-ED71FB43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Проблема не в одному товарі.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5BE68E-871D-4A08-BA15-5207FA16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57800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4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Проблема — регулярно повторювати це для сотень або тисяч SKU, поки ціни й наявність продовжують змінюватися.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8A0867-2029-49EB-B6CD-4C79B50A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94A0A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0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185460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685808-7BEF-4E24-BB31-CC24B5EA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75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Є підстава очікувати значний ефект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FBBEB2-5FAE-45F6-BDAE-8591E1C2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525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Початкові цифри — внутрішня оцінка команди; пілот має перетворити її на виміряний результат.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17108F-4E03-4E5A-840F-28C6B3D4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5143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622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D90A8F-E618-4D44-BB22-C06A6357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3143250" cy="23622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F4622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52A77A-0577-4B70-8E0E-227AA043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2686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225" b="1">
                <a:solidFill>
                  <a:srgbClr val="F4622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4622A"/>
                </a:solidFill>
                <a:latin typeface="Arial"/>
                <a:ea typeface="Arial"/>
                <a:cs typeface="Arial"/>
              </a:rPr>
              <a:t>до 3 днів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56F75D-B4B6-4F5B-A526-03DC539F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2609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на тиждень може займати один повторюваний ручний моніторинг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B3CD7A-4686-4A95-A5E0-9A426CAE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981200"/>
            <a:ext cx="3143250" cy="23622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9F7F0"/>
          </a:solidFill>
          <a:ln xmlns:a="http://schemas.openxmlformats.org/drawingml/2006/main" w="19050">
            <a:solidFill>
              <a:srgbClr val="0C9A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D1EE93-6A30-4FB9-BAEC-87232D25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24100"/>
            <a:ext cx="2686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225" b="1">
                <a:solidFill>
                  <a:srgbClr val="0C9A5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C9A5B"/>
                </a:solidFill>
                <a:latin typeface="Arial"/>
                <a:ea typeface="Arial"/>
                <a:cs typeface="Arial"/>
              </a:rPr>
              <a:t>10 людей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27EB2F-1556-47AD-ACB1-BD4DD462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62300"/>
            <a:ext cx="2609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у відділі потенційно мають подібну потребу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3F0C86-F00A-495D-A49B-730355B2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81200"/>
            <a:ext cx="3143250" cy="23622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AF0F7"/>
          </a:solidFill>
          <a:ln xmlns:a="http://schemas.openxmlformats.org/drawingml/2006/main" w="19050">
            <a:solidFill>
              <a:srgbClr val="1833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EC4747-0CBE-441E-BC17-177910CA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24100"/>
            <a:ext cx="2686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225" b="1">
                <a:solidFill>
                  <a:srgbClr val="18334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334F"/>
                </a:solidFill>
                <a:latin typeface="Arial"/>
                <a:ea typeface="Arial"/>
                <a:cs typeface="Arial"/>
              </a:rPr>
              <a:t>1 пілот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15F41C-A477-4053-B926-DF6FB2C8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62300"/>
            <a:ext cx="2609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покаже реальну економію часу, покриття та стабільність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03DB79-F0B5-437D-BD4D-689CC1E1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38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F462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622A"/>
                </a:solidFill>
                <a:latin typeface="Arial"/>
                <a:ea typeface="Arial"/>
                <a:cs typeface="Arial"/>
              </a:rPr>
              <a:t>Робоча гіпотеза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4BB560-B049-4398-99E3-66B91522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38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54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Скоротити цикл моніторингу з кількох днів до одного робочого дня або кількох годин — без втрати деталізації.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15FDB0-B1A2-4930-8AD7-479A5B93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Не обіцянка. Ціль для перевірки під час пілоту.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73D023-61D0-4C8E-8939-26E32565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94A0A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0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158653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ED0386-9DE4-49AA-B12F-67812D6F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75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Робоча версія вже 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AEB1C5-E466-4ACE-BCD9-68EF855E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525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Десктопна програма українською мовою: від запиту за маркою до таблиці та Excel.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308740-7D42-47C8-8939-883FF634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5143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622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F2F352-84CE-44ED-B7AC-5F9D00CE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7334250" cy="46863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14a8685a634a9d"/>
          <a:srcRect xmlns:a="http://schemas.openxmlformats.org/drawingml/2006/main" l="0" t="13225" r="0" b="132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19250"/>
            <a:ext cx="7029450" cy="4381500"/>
          </a:xfrm>
          <a:prstGeom xmlns:a="http://schemas.openxmlformats.org/drawingml/2006/main" prst="roundRect">
            <a:avLst>
              <a:gd name="adj" fmla="val 260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95A6DE-EAD7-4B9D-976F-746F6AAF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19250"/>
            <a:ext cx="1619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FFC7AA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622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622A"/>
                </a:solidFill>
                <a:latin typeface="Arial"/>
                <a:ea typeface="Arial"/>
                <a:cs typeface="Arial"/>
              </a:rPr>
              <a:t>6 МАГАЗИНІВ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C995CF-5C86-4A68-BC7B-FF4E5AE2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3429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rmAutofit fontScale="90633"/>
          </a:bodyPr>
          <a:lstStyle xmlns:a="http://schemas.openxmlformats.org/drawingml/2006/main"/>
          <a:p xmlns:a="http://schemas.openxmlformats.org/drawingml/2006/main">
            <a:pPr marL="254000" indent="-127000" algn="l">
              <a:lnSpc>
                <a:spcPct val="108000"/>
              </a:lnSpc>
              <a:spcAft>
                <a:spcPts val="1100"/>
              </a:spcAft>
              <a:buNone/>
              <a:defRPr sz="1575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03040"/>
                </a:solidFill>
                <a:latin typeface="Arial"/>
                <a:ea typeface="Arial"/>
                <a:cs typeface="Arial"/>
              </a:rPr>
              <a:t>EVA, VARUS, MAKEUP, Аврора, Notino та Rozetka</a:t>
            </a:r>
          </a:p>
          <a:p xmlns:a="http://schemas.openxmlformats.org/drawingml/2006/main">
            <a:pPr marL="254000" indent="-127000" algn="l">
              <a:lnSpc>
                <a:spcPct val="108000"/>
              </a:lnSpc>
              <a:spcAft>
                <a:spcPts val="1100"/>
              </a:spcAft>
              <a:buNone/>
              <a:defRPr sz="1575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03040"/>
                </a:solidFill>
                <a:latin typeface="Arial"/>
                <a:ea typeface="Arial"/>
                <a:cs typeface="Arial"/>
              </a:rPr>
              <a:t>одна або кілька торгових марок в одному запиті</a:t>
            </a:r>
          </a:p>
          <a:p xmlns:a="http://schemas.openxmlformats.org/drawingml/2006/main">
            <a:pPr marL="254000" indent="-127000" algn="l">
              <a:lnSpc>
                <a:spcPct val="108000"/>
              </a:lnSpc>
              <a:spcAft>
                <a:spcPts val="1100"/>
              </a:spcAft>
              <a:buNone/>
              <a:defRPr sz="1575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03040"/>
                </a:solidFill>
                <a:latin typeface="Arial"/>
                <a:ea typeface="Arial"/>
                <a:cs typeface="Arial"/>
              </a:rPr>
              <a:t>лише товари, доступні на момент перевірки</a:t>
            </a:r>
          </a:p>
          <a:p xmlns:a="http://schemas.openxmlformats.org/drawingml/2006/main">
            <a:pPr marL="254000" indent="-127000" algn="l">
              <a:lnSpc>
                <a:spcPct val="108000"/>
              </a:lnSpc>
              <a:spcAft>
                <a:spcPts val="1100"/>
              </a:spcAft>
              <a:buNone/>
              <a:defRPr sz="1575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03040"/>
                </a:solidFill>
                <a:latin typeface="Arial"/>
                <a:ea typeface="Arial"/>
                <a:cs typeface="Arial"/>
              </a:rPr>
              <a:t>актуальна та стара ціна — окремими полями</a:t>
            </a:r>
          </a:p>
          <a:p xmlns:a="http://schemas.openxmlformats.org/drawingml/2006/main">
            <a:pPr marL="254000" indent="-127000" algn="l">
              <a:lnSpc>
                <a:spcPct val="108000"/>
              </a:lnSpc>
              <a:spcAft>
                <a:spcPts val="1100"/>
              </a:spcAft>
              <a:buNone/>
              <a:defRPr sz="1575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03040"/>
                </a:solidFill>
                <a:latin typeface="Arial"/>
                <a:ea typeface="Arial"/>
                <a:cs typeface="Arial"/>
              </a:rPr>
              <a:t>власний браузерний рушій: не потрібна певна версія Chrome чи Edge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CEBA20-F75F-400C-9B0E-95C95524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29250"/>
            <a:ext cx="3429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9F7F0"/>
          </a:solidFill>
          <a:ln xmlns:a="http://schemas.openxmlformats.org/drawingml/2006/main" w="9525">
            <a:solidFill>
              <a:srgbClr val="A8DF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5A9F44-42FD-483C-9DE0-020AF52E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61975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377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8734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345"/>
                </a:solidFill>
                <a:latin typeface="Arial"/>
                <a:ea typeface="Arial"/>
                <a:cs typeface="Arial"/>
              </a:rPr>
              <a:t>Після цього слайду — коротка жива демонстрація.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11D970-387E-4984-8546-716228D3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94A0A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0A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830380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66B8BB-2B99-4514-9E23-AD4EAAFA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75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Менеджер отримує готову робочу таблицю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B03B3B-3211-468D-BDC5-D9CB1A41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525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Результат можна перевірити на екрані, відфільтрувати, скопіювати або експортувати в Excel.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FF6C24-5AD7-4596-93A2-6E78980C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5143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622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E8E47C-29EB-4E33-BAF5-4015833D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466850"/>
            <a:ext cx="6934200" cy="4762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bad750f1c54ce7"/>
          <a:srcRect xmlns:a="http://schemas.openxmlformats.org/drawingml/2006/main" l="0" t="10328" r="0" b="103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38700" y="1619250"/>
            <a:ext cx="6629400" cy="4457700"/>
          </a:xfrm>
          <a:prstGeom xmlns:a="http://schemas.openxmlformats.org/drawingml/2006/main" prst="roundRect">
            <a:avLst>
              <a:gd name="adj" fmla="val 256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561C58-C006-4AD4-9311-D768F180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У кожному рядку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29B378-3910-44B9-B18F-D4B7F1E9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371475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 algn="l">
              <a:lnSpc>
                <a:spcPct val="108000"/>
              </a:lnSpc>
              <a:spcAft>
                <a:spcPts val="800"/>
              </a:spcAft>
              <a:buNone/>
              <a:defRPr sz="150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3040"/>
                </a:solidFill>
                <a:latin typeface="Arial"/>
                <a:ea typeface="Arial"/>
                <a:cs typeface="Arial"/>
              </a:rPr>
              <a:t>назва товару й торгова марка</a:t>
            </a:r>
          </a:p>
          <a:p xmlns:a="http://schemas.openxmlformats.org/drawingml/2006/main">
            <a:pPr marL="254000" indent="-127000" algn="l">
              <a:lnSpc>
                <a:spcPct val="108000"/>
              </a:lnSpc>
              <a:spcAft>
                <a:spcPts val="800"/>
              </a:spcAft>
              <a:buNone/>
              <a:defRPr sz="150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3040"/>
                </a:solidFill>
                <a:latin typeface="Arial"/>
                <a:ea typeface="Arial"/>
                <a:cs typeface="Arial"/>
              </a:rPr>
              <a:t>ціна зі знижкою та без знижки</a:t>
            </a:r>
          </a:p>
          <a:p xmlns:a="http://schemas.openxmlformats.org/drawingml/2006/main">
            <a:pPr marL="254000" indent="-127000" algn="l">
              <a:lnSpc>
                <a:spcPct val="108000"/>
              </a:lnSpc>
              <a:spcAft>
                <a:spcPts val="800"/>
              </a:spcAft>
              <a:buNone/>
              <a:defRPr sz="150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3040"/>
                </a:solidFill>
                <a:latin typeface="Arial"/>
                <a:ea typeface="Arial"/>
                <a:cs typeface="Arial"/>
              </a:rPr>
              <a:t>посилання на джерело</a:t>
            </a:r>
          </a:p>
          <a:p xmlns:a="http://schemas.openxmlformats.org/drawingml/2006/main">
            <a:pPr marL="254000" indent="-127000" algn="l">
              <a:lnSpc>
                <a:spcPct val="108000"/>
              </a:lnSpc>
              <a:spcAft>
                <a:spcPts val="800"/>
              </a:spcAft>
              <a:buNone/>
              <a:defRPr sz="150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3040"/>
                </a:solidFill>
                <a:latin typeface="Arial"/>
                <a:ea typeface="Arial"/>
                <a:cs typeface="Arial"/>
              </a:rPr>
              <a:t>варіант / відтінок — коли режим увімкнений</a:t>
            </a:r>
          </a:p>
          <a:p xmlns:a="http://schemas.openxmlformats.org/drawingml/2006/main">
            <a:pPr marL="254000" indent="-127000" algn="l">
              <a:lnSpc>
                <a:spcPct val="108000"/>
              </a:lnSpc>
              <a:spcAft>
                <a:spcPts val="800"/>
              </a:spcAft>
              <a:buNone/>
              <a:defRPr sz="150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3040"/>
                </a:solidFill>
                <a:latin typeface="Arial"/>
                <a:ea typeface="Arial"/>
                <a:cs typeface="Arial"/>
              </a:rPr>
              <a:t>штрихкод MAKEUP — для точного варіанта</a:t>
            </a:r>
          </a:p>
          <a:p xmlns:a="http://schemas.openxmlformats.org/drawingml/2006/main">
            <a:pPr marL="254000" indent="-127000" algn="l">
              <a:lnSpc>
                <a:spcPct val="108000"/>
              </a:lnSpc>
              <a:spcAft>
                <a:spcPts val="800"/>
              </a:spcAft>
              <a:buNone/>
              <a:defRPr sz="150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3040"/>
                </a:solidFill>
                <a:latin typeface="Arial"/>
                <a:ea typeface="Arial"/>
                <a:cs typeface="Arial"/>
              </a:rPr>
              <a:t>продавець Rozetka — окремою пропозицією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D35BCC-8CF8-4277-96CC-38B30627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57800"/>
            <a:ext cx="37147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FFC7A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47C7E9-5D25-4773-9B8D-27C1E064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05450"/>
            <a:ext cx="3257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Excel зберігає контекст: магазин, час, запит і режими перевірки.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D19067-8B2D-476D-BDCC-C6FB62A1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2674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8793A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793A2"/>
                </a:solidFill>
                <a:latin typeface="Arial"/>
                <a:ea typeface="Arial"/>
                <a:cs typeface="Arial"/>
              </a:rPr>
              <a:t>На скріншоті — тестові товари; поля та логіка програми реальні.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04A490-0760-4AB0-99A3-C770228F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94A0A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0A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210907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08BBA2-D07C-4148-8410-2E3762EE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75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Функціональність враховує різницю між магазинами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BA2EC1-822B-483F-AE45-2D38D2EB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525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Спільне ядро однакове, але детальні режими адаптовані до структури кожного сайту.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D35032-DB1B-4358-8627-902961F1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5143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622A"/>
          </a:solidFill>
          <a:ln xmlns:a="http://schemas.openxmlformats.org/drawingml/2006/main" w="0">
            <a:noFill/>
          </a:ln>
        </p:spPr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33400" y="1562100"/>
          <a:ext xmlns:a="http://schemas.openxmlformats.org/drawingml/2006/main" cx="11125200" cy="4305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52550"/>
                <a:gridCol w="1581150"/>
                <a:gridCol w="2724150"/>
                <a:gridCol w="1257300"/>
                <a:gridCol w="4210050"/>
              </a:tblGrid>
              <a:tr h="61504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Магазин</a:t>
                      </a:r>
                    </a:p>
                  </a:txBody>
                  <a:tcPr marL="85725" marR="85725" marT="95250" marB="95250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Підказки марок</a:t>
                      </a:r>
                    </a:p>
                  </a:txBody>
                  <a:tcPr marL="85725" marR="85725" marT="95250" marB="95250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Варіанти / відтінки</a:t>
                      </a:r>
                    </a:p>
                  </a:txBody>
                  <a:tcPr marL="85725" marR="85725" marT="95250" marB="95250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EAN/GTIN</a:t>
                      </a:r>
                    </a:p>
                  </a:txBody>
                  <a:tcPr marL="85725" marR="85725" marT="95250" marB="95250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Особливість</a:t>
                      </a:r>
                    </a:p>
                  </a:txBody>
                  <a:tcPr marL="85725" marR="85725" marT="95250" marB="95250">
                    <a:solidFill>
                      <a:srgbClr val="102238"/>
                    </a:solidFill>
                  </a:tcPr>
                </a:tc>
              </a:tr>
              <a:tr h="61504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EVA</a:t>
                      </a:r>
                    </a:p>
                  </a:txBody>
                  <a:tcPr marL="85725" marR="85725" marT="76200" marB="76200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3040"/>
                          </a:solidFill>
                          <a:latin typeface="Arial"/>
                          <a:ea typeface="Arial"/>
                          <a:cs typeface="Arial"/>
                        </a:rPr>
                        <a:t>Так</a:t>
                      </a:r>
                    </a:p>
                  </a:txBody>
                  <a:tcPr marL="85725" marR="85725" marT="76200" marB="76200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3040"/>
                          </a:solidFill>
                          <a:latin typeface="Arial"/>
                          <a:ea typeface="Arial"/>
                          <a:cs typeface="Arial"/>
                        </a:rPr>
                        <a:t>Опційно, власні ціни</a:t>
                      </a:r>
                    </a:p>
                  </a:txBody>
                  <a:tcPr marL="85725" marR="85725" marT="76200" marB="76200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3040"/>
                          </a:solidFill>
                          <a:latin typeface="Arial"/>
                          <a:ea typeface="Arial"/>
                          <a:cs typeface="Arial"/>
                        </a:rPr>
                        <a:t>Ні</a:t>
                      </a:r>
                    </a:p>
                  </a:txBody>
                  <a:tcPr marL="85725" marR="85725" marT="76200" marB="76200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3040"/>
                          </a:solidFill>
                          <a:latin typeface="Arial"/>
                          <a:ea typeface="Arial"/>
                          <a:cs typeface="Arial"/>
                        </a:rPr>
                        <a:t>Звичайні й конфігуровані картки</a:t>
                      </a:r>
                    </a:p>
                  </a:txBody>
                  <a:tcPr marL="85725" marR="85725" marT="76200" marB="76200">
                    <a:solidFill>
                      <a:srgbClr val="FAFBFD"/>
                    </a:solidFill>
                  </a:tcPr>
                </a:tc>
              </a:tr>
              <a:tr h="61504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VARUS</a:t>
                      </a:r>
                    </a:p>
                  </a:txBody>
                  <a:tcPr marL="85725" marR="85725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3040"/>
                          </a:solidFill>
                          <a:latin typeface="Arial"/>
                          <a:ea typeface="Arial"/>
                          <a:cs typeface="Arial"/>
                        </a:rPr>
                        <a:t>Так</a:t>
                      </a:r>
                    </a:p>
                  </a:txBody>
                  <a:tcPr marL="85725" marR="85725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3040"/>
                          </a:solidFill>
                          <a:latin typeface="Arial"/>
                          <a:ea typeface="Arial"/>
                          <a:cs typeface="Arial"/>
                        </a:rPr>
                        <a:t>Ні</a:t>
                      </a:r>
                    </a:p>
                  </a:txBody>
                  <a:tcPr marL="85725" marR="85725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3040"/>
                          </a:solidFill>
                          <a:latin typeface="Arial"/>
                          <a:ea typeface="Arial"/>
                          <a:cs typeface="Arial"/>
                        </a:rPr>
                        <a:t>Ні</a:t>
                      </a:r>
                    </a:p>
                  </a:txBody>
                  <a:tcPr marL="85725" marR="85725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3040"/>
                          </a:solidFill>
                          <a:latin typeface="Arial"/>
                          <a:ea typeface="Arial"/>
                          <a:cs typeface="Arial"/>
                        </a:rPr>
                        <a:t>Швидкий продуктовий каталог</a:t>
                      </a:r>
                    </a:p>
                  </a:txBody>
                  <a:tcPr marL="85725" marR="85725" marT="76200" marB="76200">
                    <a:solidFill>
                      <a:srgbClr val="FFFFFF"/>
                    </a:solidFill>
                  </a:tcPr>
                </a:tc>
              </a:tr>
              <a:tr h="61504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MAKEUP</a:t>
                      </a:r>
                    </a:p>
                  </a:txBody>
                  <a:tcPr marL="85725" marR="85725" marT="76200" marB="76200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3040"/>
                          </a:solidFill>
                          <a:latin typeface="Arial"/>
                          <a:ea typeface="Arial"/>
                          <a:cs typeface="Arial"/>
                        </a:rPr>
                        <a:t>Так</a:t>
                      </a:r>
                    </a:p>
                  </a:txBody>
                  <a:tcPr marL="85725" marR="85725" marT="76200" marB="76200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3040"/>
                          </a:solidFill>
                          <a:latin typeface="Arial"/>
                          <a:ea typeface="Arial"/>
                          <a:cs typeface="Arial"/>
                        </a:rPr>
                        <a:t>Опційно: відтінки, об’єми, UA/EU</a:t>
                      </a:r>
                    </a:p>
                  </a:txBody>
                  <a:tcPr marL="85725" marR="85725" marT="76200" marB="76200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3040"/>
                          </a:solidFill>
                          <a:latin typeface="Arial"/>
                          <a:ea typeface="Arial"/>
                          <a:cs typeface="Arial"/>
                        </a:rPr>
                        <a:t>Так</a:t>
                      </a:r>
                    </a:p>
                  </a:txBody>
                  <a:tcPr marL="85725" marR="85725" marT="76200" marB="76200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3040"/>
                          </a:solidFill>
                          <a:latin typeface="Arial"/>
                          <a:ea typeface="Arial"/>
                          <a:cs typeface="Arial"/>
                        </a:rPr>
                        <a:t>Код лише точного варіанта</a:t>
                      </a:r>
                    </a:p>
                  </a:txBody>
                  <a:tcPr marL="85725" marR="85725" marT="76200" marB="76200">
                    <a:solidFill>
                      <a:srgbClr val="FAFBFD"/>
                    </a:solidFill>
                  </a:tcPr>
                </a:tc>
              </a:tr>
              <a:tr h="61504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Аврора</a:t>
                      </a:r>
                    </a:p>
                  </a:txBody>
                  <a:tcPr marL="85725" marR="85725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3040"/>
                          </a:solidFill>
                          <a:latin typeface="Arial"/>
                          <a:ea typeface="Arial"/>
                          <a:cs typeface="Arial"/>
                        </a:rPr>
                        <a:t>Ні</a:t>
                      </a:r>
                    </a:p>
                  </a:txBody>
                  <a:tcPr marL="85725" marR="85725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3040"/>
                          </a:solidFill>
                          <a:latin typeface="Arial"/>
                          <a:ea typeface="Arial"/>
                          <a:cs typeface="Arial"/>
                        </a:rPr>
                        <a:t>Частково / «в асортименті»</a:t>
                      </a:r>
                    </a:p>
                  </a:txBody>
                  <a:tcPr marL="85725" marR="85725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3040"/>
                          </a:solidFill>
                          <a:latin typeface="Arial"/>
                          <a:ea typeface="Arial"/>
                          <a:cs typeface="Arial"/>
                        </a:rPr>
                        <a:t>Ні</a:t>
                      </a:r>
                    </a:p>
                  </a:txBody>
                  <a:tcPr marL="85725" marR="85725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3040"/>
                          </a:solidFill>
                          <a:latin typeface="Arial"/>
                          <a:ea typeface="Arial"/>
                          <a:cs typeface="Arial"/>
                        </a:rPr>
                        <a:t>Перевірка можливості купити</a:t>
                      </a:r>
                    </a:p>
                  </a:txBody>
                  <a:tcPr marL="85725" marR="85725" marT="76200" marB="76200">
                    <a:solidFill>
                      <a:srgbClr val="FFFFFF"/>
                    </a:solidFill>
                  </a:tcPr>
                </a:tc>
              </a:tr>
              <a:tr h="61504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Notino</a:t>
                      </a:r>
                    </a:p>
                  </a:txBody>
                  <a:tcPr marL="85725" marR="85725" marT="76200" marB="76200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3040"/>
                          </a:solidFill>
                          <a:latin typeface="Arial"/>
                          <a:ea typeface="Arial"/>
                          <a:cs typeface="Arial"/>
                        </a:rPr>
                        <a:t>Так</a:t>
                      </a:r>
                    </a:p>
                  </a:txBody>
                  <a:tcPr marL="85725" marR="85725" marT="76200" marB="76200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3040"/>
                          </a:solidFill>
                          <a:latin typeface="Arial"/>
                          <a:ea typeface="Arial"/>
                          <a:cs typeface="Arial"/>
                        </a:rPr>
                        <a:t>Опційно: відтінки й об’єми</a:t>
                      </a:r>
                    </a:p>
                  </a:txBody>
                  <a:tcPr marL="85725" marR="85725" marT="76200" marB="76200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3040"/>
                          </a:solidFill>
                          <a:latin typeface="Arial"/>
                          <a:ea typeface="Arial"/>
                          <a:cs typeface="Arial"/>
                        </a:rPr>
                        <a:t>Ні</a:t>
                      </a:r>
                    </a:p>
                  </a:txBody>
                  <a:tcPr marL="85725" marR="85725" marT="76200" marB="76200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3040"/>
                          </a:solidFill>
                          <a:latin typeface="Arial"/>
                          <a:ea typeface="Arial"/>
                          <a:cs typeface="Arial"/>
                        </a:rPr>
                        <a:t>Промокодна ціна окремо</a:t>
                      </a:r>
                    </a:p>
                  </a:txBody>
                  <a:tcPr marL="85725" marR="85725" marT="76200" marB="76200">
                    <a:solidFill>
                      <a:srgbClr val="FAFBFD"/>
                    </a:solidFill>
                  </a:tcPr>
                </a:tc>
              </a:tr>
              <a:tr h="61504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</a:rPr>
                        <a:t>Rozetka</a:t>
                      </a:r>
                    </a:p>
                  </a:txBody>
                  <a:tcPr marL="85725" marR="85725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3040"/>
                          </a:solidFill>
                          <a:latin typeface="Arial"/>
                          <a:ea typeface="Arial"/>
                          <a:cs typeface="Arial"/>
                        </a:rPr>
                        <a:t>Ні</a:t>
                      </a:r>
                    </a:p>
                  </a:txBody>
                  <a:tcPr marL="85725" marR="85725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3040"/>
                          </a:solidFill>
                          <a:latin typeface="Arial"/>
                          <a:ea typeface="Arial"/>
                          <a:cs typeface="Arial"/>
                        </a:rPr>
                        <a:t>Пропозиції продавців</a:t>
                      </a:r>
                    </a:p>
                  </a:txBody>
                  <a:tcPr marL="85725" marR="85725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3040"/>
                          </a:solidFill>
                          <a:latin typeface="Arial"/>
                          <a:ea typeface="Arial"/>
                          <a:cs typeface="Arial"/>
                        </a:rPr>
                        <a:t>Ні</a:t>
                      </a:r>
                    </a:p>
                  </a:txBody>
                  <a:tcPr marL="85725" marR="85725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03040"/>
                          </a:solidFill>
                          <a:latin typeface="Arial"/>
                          <a:ea typeface="Arial"/>
                          <a:cs typeface="Arial"/>
                        </a:rPr>
                        <a:t>Продавець і його ціна в рядку</a:t>
                      </a:r>
                    </a:p>
                  </a:txBody>
                  <a:tcPr marL="85725" marR="85725"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03E94-C10F-4790-B0E6-35252EA5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19800"/>
            <a:ext cx="10429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Стан робочої версії 4.17.0. Надійні штрихкоди зараз реалізовані для MAKEUP; внутрішні коди не видаються за EAN.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AED178-097E-4484-B492-BE51F9F9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94A0A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0A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047092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0225B3-43CF-4159-91FB-24175608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75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Це не лише разовий збір цін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D54B6A-3CAA-43A7-8F94-AAC8195E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525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Локальний архів перетворює окремі перевірки на контроль динаміки.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93EFE1-CF22-4E84-9CE6-55C3B418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5143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622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073AB8-6049-45CD-B853-24BA6B6E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5619750" cy="4781550"/>
          </a:xfrm>
          <a:prstGeom xmlns:a="http://schemas.openxmlformats.org/drawingml/2006/main" prst="roundRect">
            <a:avLst>
              <a:gd name="adj" fmla="val 318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55b1bb38864e00"/>
          <a:srcRect xmlns:a="http://schemas.openxmlformats.org/drawingml/2006/main" l="0" t="10983" r="0" b="109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19250"/>
            <a:ext cx="5314950" cy="4476750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BF1457-E9C2-4659-8DA9-74170974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954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Що вже працює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F25BB3-D3B7-4381-B96A-F42FBC43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47900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 algn="l">
              <a:lnSpc>
                <a:spcPct val="108000"/>
              </a:lnSpc>
              <a:spcAft>
                <a:spcPts val="1000"/>
              </a:spcAft>
              <a:buNone/>
              <a:defRPr sz="150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3040"/>
                </a:solidFill>
                <a:latin typeface="Arial"/>
                <a:ea typeface="Arial"/>
                <a:cs typeface="Arial"/>
              </a:rPr>
              <a:t>повні успішні перевірки автоматично потрапляють в архів</a:t>
            </a:r>
          </a:p>
          <a:p xmlns:a="http://schemas.openxmlformats.org/drawingml/2006/main">
            <a:pPr marL="254000" indent="-127000" algn="l">
              <a:lnSpc>
                <a:spcPct val="108000"/>
              </a:lnSpc>
              <a:spcAft>
                <a:spcPts val="1000"/>
              </a:spcAft>
              <a:buNone/>
              <a:defRPr sz="150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3040"/>
                </a:solidFill>
                <a:latin typeface="Arial"/>
                <a:ea typeface="Arial"/>
                <a:cs typeface="Arial"/>
              </a:rPr>
              <a:t>повторний однаковий запит показує нові, дорожчі, дешевші та зниклі позиції</a:t>
            </a:r>
          </a:p>
          <a:p xmlns:a="http://schemas.openxmlformats.org/drawingml/2006/main">
            <a:pPr marL="254000" indent="-127000" algn="l">
              <a:lnSpc>
                <a:spcPct val="108000"/>
              </a:lnSpc>
              <a:spcAft>
                <a:spcPts val="1000"/>
              </a:spcAft>
              <a:buNone/>
              <a:defRPr sz="150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3040"/>
                </a:solidFill>
                <a:latin typeface="Arial"/>
                <a:ea typeface="Arial"/>
                <a:cs typeface="Arial"/>
              </a:rPr>
              <a:t>історія ціни точного товару — графіком, таблицею та в Excel</a:t>
            </a:r>
          </a:p>
          <a:p xmlns:a="http://schemas.openxmlformats.org/drawingml/2006/main">
            <a:pPr marL="254000" indent="-127000" algn="l">
              <a:lnSpc>
                <a:spcPct val="108000"/>
              </a:lnSpc>
              <a:spcAft>
                <a:spcPts val="1000"/>
              </a:spcAft>
              <a:buNone/>
              <a:defRPr sz="150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3040"/>
                </a:solidFill>
                <a:latin typeface="Arial"/>
                <a:ea typeface="Arial"/>
                <a:cs typeface="Arial"/>
              </a:rPr>
              <a:t>звіт змін за магазином і вибраним періодом без нового пошуку</a:t>
            </a:r>
          </a:p>
          <a:p xmlns:a="http://schemas.openxmlformats.org/drawingml/2006/main">
            <a:pPr marL="254000" indent="-127000" algn="l">
              <a:lnSpc>
                <a:spcPct val="108000"/>
              </a:lnSpc>
              <a:spcAft>
                <a:spcPts val="1000"/>
              </a:spcAft>
              <a:buNone/>
              <a:defRPr sz="150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3040"/>
                </a:solidFill>
                <a:latin typeface="Arial"/>
                <a:ea typeface="Arial"/>
                <a:cs typeface="Arial"/>
              </a:rPr>
              <a:t>спільний Excel із вибраних перевірок кількох магазинів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115DE9-C46F-400E-B147-D3D836F4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524500"/>
            <a:ext cx="4762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9F7F0"/>
          </a:solidFill>
          <a:ln xmlns:a="http://schemas.openxmlformats.org/drawingml/2006/main" w="9525">
            <a:solidFill>
              <a:srgbClr val="A8DF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99305D-D919-4B9D-896A-13C64D21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95950"/>
            <a:ext cx="430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8734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345"/>
                </a:solidFill>
                <a:latin typeface="Arial"/>
                <a:ea typeface="Arial"/>
                <a:cs typeface="Arial"/>
              </a:rPr>
              <a:t>Зупинений або помилковий пошук не замінює надійну базу порівняння.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3420DC-D54C-4BA9-BD76-57CEB7A8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94A0A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0A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413283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779DFC-C62B-4056-927A-43562840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75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Пропозиція: короткий вимірюваний пілот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FC08ED-38C0-4CC3-AB47-EB420023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525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Без великого впровадження на старті — спочатку перевірити цінність і стабільність на реальній роботі.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D23B0E-0423-4EDA-ADB2-B68228F9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5143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622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79B720-92FE-4478-B679-0286C196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3812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8B5F91-6E8F-46D7-A6BF-B2667A1E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622A"/>
          </a:solidFill>
          <a:ln xmlns:a="http://schemas.openxmlformats.org/drawingml/2006/main" w="9525">
            <a:solidFill>
              <a:srgbClr val="F4622A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CD3CF7-3164-4B1C-9B1B-AE9C50C6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3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Зафіксувати обсяг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4F304E-2FAA-4CD9-9297-63B9B42A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магазини, категорії, бренди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E80F29-FC3C-4913-9392-11C05B61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24150"/>
            <a:ext cx="2667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622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09914C-6AD4-4272-99BD-94F626A4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809750"/>
            <a:ext cx="23812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D64226-539F-40F8-96F4-F50799CC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0193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622A"/>
          </a:solidFill>
          <a:ln xmlns:a="http://schemas.openxmlformats.org/drawingml/2006/main" w="9525">
            <a:solidFill>
              <a:srgbClr val="F4622A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6ED0BD-D121-4F17-AFE2-C58D5D23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667000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16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Дати 2–3 користувачам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297A9B-4D09-4F04-99B4-F082A1C2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956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працювати 2–4 тижні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B4846B-0DC6-4E8B-B7C2-912D5A0E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724150"/>
            <a:ext cx="2667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622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2D1CB1-9DF1-4D97-ADF6-A6755051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09750"/>
            <a:ext cx="23812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6DDC45-1FEA-4803-998B-1156E6FB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193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622A"/>
          </a:solidFill>
          <a:ln xmlns:a="http://schemas.openxmlformats.org/drawingml/2006/main" w="9525">
            <a:solidFill>
              <a:srgbClr val="F4622A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8F8215-51D5-435E-82EA-0388B9BB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67000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Виміряти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5B6688-9863-4F20-ABB4-2E3B1D6F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956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час, покриття, виправлення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203F5E-B29A-4058-ACAE-E8DCBA8D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24150"/>
            <a:ext cx="2667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622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2E8BB1-1470-4DC2-9D9C-50924604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809750"/>
            <a:ext cx="23812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62165B-20A6-4322-B50B-6570B27E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0193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622A"/>
          </a:solidFill>
          <a:ln xmlns:a="http://schemas.openxmlformats.org/drawingml/2006/main" w="9525">
            <a:solidFill>
              <a:srgbClr val="F4622A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D177A5-CA47-4A9E-A87B-3B8C32BC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667000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3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0D1B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D1B2A"/>
                </a:solidFill>
                <a:latin typeface="Arial"/>
                <a:ea typeface="Arial"/>
                <a:cs typeface="Arial"/>
              </a:rPr>
              <a:t>Прийняти рішення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D292D7-5200-43CB-8B85-1542B8EE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956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63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83"/>
                </a:solidFill>
                <a:latin typeface="Arial"/>
                <a:ea typeface="Arial"/>
                <a:cs typeface="Arial"/>
              </a:rPr>
              <a:t>масштаб, підтримка, умови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0AE935-8775-4D5D-B8F1-1805A64A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462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622A"/>
                </a:solidFill>
                <a:latin typeface="Arial"/>
                <a:ea typeface="Arial"/>
                <a:cs typeface="Arial"/>
              </a:rPr>
              <a:t>Критерії пілоту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67C341-2809-4FE9-B565-D7A38AFB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581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 algn="l">
              <a:lnSpc>
                <a:spcPct val="108000"/>
              </a:lnSpc>
              <a:spcAft>
                <a:spcPts val="500"/>
              </a:spcAft>
              <a:buNone/>
              <a:defRPr sz="1425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203040"/>
                </a:solidFill>
                <a:latin typeface="Arial"/>
                <a:ea typeface="Arial"/>
                <a:cs typeface="Arial"/>
              </a:rPr>
              <a:t>час одного повного циклу моніторингу</a:t>
            </a:r>
          </a:p>
          <a:p xmlns:a="http://schemas.openxmlformats.org/drawingml/2006/main">
            <a:pPr marL="254000" indent="-127000" algn="l">
              <a:lnSpc>
                <a:spcPct val="108000"/>
              </a:lnSpc>
              <a:spcAft>
                <a:spcPts val="500"/>
              </a:spcAft>
              <a:buNone/>
              <a:defRPr sz="1425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203040"/>
                </a:solidFill>
                <a:latin typeface="Arial"/>
                <a:ea typeface="Arial"/>
                <a:cs typeface="Arial"/>
              </a:rPr>
              <a:t>кількість отриманих і вручну виправлених рядків</a:t>
            </a:r>
          </a:p>
          <a:p xmlns:a="http://schemas.openxmlformats.org/drawingml/2006/main">
            <a:pPr marL="254000" indent="-127000" algn="l">
              <a:lnSpc>
                <a:spcPct val="108000"/>
              </a:lnSpc>
              <a:spcAft>
                <a:spcPts val="500"/>
              </a:spcAft>
              <a:buNone/>
              <a:defRPr sz="1425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203040"/>
                </a:solidFill>
                <a:latin typeface="Arial"/>
                <a:ea typeface="Arial"/>
                <a:cs typeface="Arial"/>
              </a:rPr>
              <a:t>стабільність роботи на типових запитах</a:t>
            </a:r>
          </a:p>
          <a:p xmlns:a="http://schemas.openxmlformats.org/drawingml/2006/main">
            <a:pPr marL="254000" indent="-127000" algn="l">
              <a:lnSpc>
                <a:spcPct val="108000"/>
              </a:lnSpc>
              <a:spcAft>
                <a:spcPts val="500"/>
              </a:spcAft>
              <a:buNone/>
              <a:defRPr sz="1425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203040"/>
                </a:solidFill>
                <a:latin typeface="Arial"/>
                <a:ea typeface="Arial"/>
                <a:cs typeface="Arial"/>
              </a:rPr>
              <a:t>зручність Excel і повторного використання результатів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8CCDEF-E239-4060-833A-C3375E03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29150"/>
            <a:ext cx="44767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7E5"/>
          </a:solidFill>
          <a:ln xmlns:a="http://schemas.openxmlformats.org/drawingml/2006/main" w="9525">
            <a:solidFill>
              <a:srgbClr val="F0CB7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8F87BD-9999-49C1-827F-0AA21D9B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8577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8A5B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A5B00"/>
                </a:solidFill>
                <a:latin typeface="Arial"/>
                <a:ea typeface="Arial"/>
                <a:cs typeface="Arial"/>
              </a:rPr>
              <a:t>Контроль ризиків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B40A6B-E1B2-4922-A8DB-E400B4BF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276850"/>
            <a:ext cx="3905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Поточна версія працює локально. Сайти можуть змінювати структуру, тому пілот окремо перевіряє надійність і потребу в супроводженні.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FF041A-2E70-434C-B4BC-63B236D7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94A0A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4A0A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637109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22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C1EB4A-4A5F-4EBC-A94C-1BCEDA06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62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A789C9-2B0E-41C6-8B66-33CF8D5D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9C6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9C6D"/>
                </a:solidFill>
                <a:latin typeface="Arial"/>
                <a:ea typeface="Arial"/>
                <a:cs typeface="Arial"/>
              </a:rPr>
              <a:t>Наступний крок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FE11EB-31C6-43A3-BC37-18EE9248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7239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Погодити пілот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Price Monitor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D19A66-6380-4F17-A9A2-F10DBFE3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CCD7E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CD7E4"/>
                </a:solidFill>
                <a:latin typeface="Arial"/>
                <a:ea typeface="Arial"/>
                <a:cs typeface="Arial"/>
              </a:rPr>
              <a:t>Щоб після демонстрації перейти від враження до виміряного бізнес-результату.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44832D-6A0D-49DF-8631-B47937B8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622A"/>
          </a:solidFill>
          <a:ln xmlns:a="http://schemas.openxmlformats.org/drawingml/2006/main" w="9525">
            <a:solidFill>
              <a:srgbClr val="F4622A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651391-1A26-4D4E-89FF-E3858917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4340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визначити 2–3 учасників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7A2B55-4862-4B34-BC40-CF280BC8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622A"/>
          </a:solidFill>
          <a:ln xmlns:a="http://schemas.openxmlformats.org/drawingml/2006/main" w="9525">
            <a:solidFill>
              <a:srgbClr val="F4622A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A5DEB7-6C84-45C9-ABDB-DE6C4A17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339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узгодити обсяг і критерії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1A15DF-36F7-48B6-B89A-85D4848D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622A"/>
          </a:solidFill>
          <a:ln xmlns:a="http://schemas.openxmlformats.org/drawingml/2006/main" w="9525">
            <a:solidFill>
              <a:srgbClr val="F4622A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2B9D1C-6EF0-4C62-ACF5-9B747982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2450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призначити контакт для IT-перевірки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903B67-D426-41DA-9097-64875F94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43000"/>
            <a:ext cx="2476500" cy="422910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8334F"/>
          </a:solidFill>
          <a:ln xmlns:a="http://schemas.openxmlformats.org/drawingml/2006/main" w="9525">
            <a:solidFill>
              <a:srgbClr val="3651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1B5C02-889D-4FA8-A3BC-E5910C4C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52600"/>
            <a:ext cx="1828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Результат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пілоту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5E146C-1FF7-4E0D-8B1B-21CD6450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76550"/>
            <a:ext cx="17526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FB08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B08A"/>
                </a:solidFill>
                <a:latin typeface="Arial"/>
                <a:ea typeface="Arial"/>
                <a:cs typeface="Arial"/>
              </a:rPr>
              <a:t>час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FB08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B08A"/>
                </a:solidFill>
                <a:latin typeface="Arial"/>
                <a:ea typeface="Arial"/>
                <a:cs typeface="Arial"/>
              </a:rPr>
              <a:t>+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FB08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B08A"/>
                </a:solidFill>
                <a:latin typeface="Arial"/>
                <a:ea typeface="Arial"/>
                <a:cs typeface="Arial"/>
              </a:rPr>
              <a:t>якість даних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FB08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B08A"/>
                </a:solidFill>
                <a:latin typeface="Arial"/>
                <a:ea typeface="Arial"/>
                <a:cs typeface="Arial"/>
              </a:rPr>
              <a:t>+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FB08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B08A"/>
                </a:solidFill>
                <a:latin typeface="Arial"/>
                <a:ea typeface="Arial"/>
                <a:cs typeface="Arial"/>
              </a:rPr>
              <a:t>стабільність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402F7F-201E-4714-84BC-D4E9C821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9245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650" b="1">
                <a:solidFill>
                  <a:srgbClr val="AFC0D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FC0D2"/>
                </a:solidFill>
                <a:latin typeface="Arial"/>
                <a:ea typeface="Arial"/>
                <a:cs typeface="Arial"/>
              </a:rPr>
              <a:t>Питання?</a:t>
            </a:r>
          </a:p>
        </p:txBody>
      </p:sp>
    </p:spTree>
    <p:extLst>
      <p:ext uri="{BB962C8B-B14F-4D97-AF65-F5344CB8AC3E}">
        <p14:creationId xmlns:p14="http://schemas.microsoft.com/office/powerpoint/2010/main" val="682526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2026-10-01T16:57:18.4460000Z</dcterms:created>
  <dcterms:modified xsi:type="dcterms:W3CDTF">2026-10-01T16:57:18.4460000Z</dcterms:modified>
</coreProperties>
</file>